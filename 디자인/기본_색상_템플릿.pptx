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색상 템플릿" id="{6de80667-e81e-d588-ed95-8776c4009aeb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기본 색상 템플릿입니다. 실습 사이트의 기준 색을 한 장에 정리했습니다.
강조 색은 LottieFiles 홈페이지의 청록 계열입니다. 진한 청록(#017A71)은 왼쪽 메뉴 바탕 · 버튼 · 링크 · 번호에, 브랜드 청록(#019D91)은 테두리 · 완료 표시 · 강조 선에, 민트(#00DDB3)는 왼쪽 메뉴에서 지금 보고 있는 위치와 로고 점에만 씁니다. AI 비서 상자는 아두이노 IDE 상자(청록)와 헷갈리지 않도록 LottieFiles 브랜드의 파랑을 진하게 한 #1A66E0을 씁니다.
흰 글자는 진한 청록과 파랑 위에만 씁니다(대비 5.2:1). 브랜드 청록과 민트 위에는 검정 글자를 씁니다. 읽기 쉽도록 흐린 파스텔 바탕은 쓰지 않습니다.
나머지는 색이 섞이지 않은 중립 회색이고, 파워셸 상자는 실제 윈도우 터미널과 같은 검정(#0C0C0C) 바탕에 회색 글자(#CCCCCC)입니다. 아두이노 코드 상자는 아두이노 IDE 2의 색(머리줄 #006D70, 둥근 버튼 #7FCBCD, 탭 줄 #ECF1F1, 줄 번호 #237893)을 따르고, 코드 색도 IDE처럼 자료형은 청록, 함수는 주황, 주석은 회색입니다. 주의 상자만 노랑(#FFF4CE)을 씁니다.
붙여넣는 상자는 붙여넣을 프로그램의 모양을 본떴습니다. 파워셸은 윈도우 터미널 창, 주소는 크롬 주소창, 코드는 줄 번호가 있는 편집기 모양입니다.
글꼴은 맑은 고딕, 명령어와 코드는 Consolas입니다. 모서리는 모두 직각입니다. 이 파일의 PowerPoint 테마 색도 같은 팔레트로 설정해 두었습니다.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980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17A7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17A71"/>
                </a:solidFill>
              </a:rPr>
              <a:t>기본 색상 템플릿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</a:rPr>
              <a:t>AI 에이전트와 피지컬 컴퓨팅 입문 실습 사이트의 기준 색. 강조는 청록, AI 비서 상자만 파랑, 나머지는 회색</a:t>
            </a:r>
            <a:endParaRPr lang="en-US" sz="1200" dirty="0"/>
          </a:p>
        </p:txBody>
      </p:sp>
      <p:sp>
        <p:nvSpPr>
          <p:cNvPr id="4" name="형식 메모"/>
          <p:cNvSpPr txBox="1"/>
          <p:nvPr/>
        </p:nvSpPr>
        <p:spPr>
          <a:xfrm>
            <a:off x="8412480" y="384048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2525B"/>
                </a:solidFill>
              </a:rPr>
              <a:t>맑은 고딕 · 직각 모서리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52525B"/>
                </a:solidFill>
              </a:rPr>
              <a:t>이 파일의 PPT 테마 색도 같은 팔레트</a:t>
            </a:r>
            <a:endParaRPr lang="en-US" sz="1050" dirty="0"/>
          </a:p>
        </p:txBody>
      </p:sp>
      <p:sp>
        <p:nvSpPr>
          <p:cNvPr id="5" name="강조 색 상자"/>
          <p:cNvSpPr/>
          <p:nvPr/>
        </p:nvSpPr>
        <p:spPr>
          <a:xfrm>
            <a:off x="457200" y="1280160"/>
            <a:ext cx="690372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898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9090B"/>
                </a:solidFill>
              </a:rPr>
              <a:t>강조 색</a:t>
            </a:r>
            <a:r>
              <a:rPr lang="en-US" sz="1050" dirty="0">
                <a:solidFill>
                  <a:srgbClr val="52525B"/>
                </a:solidFill>
              </a:rPr>
              <a:t>  청록 계열 + AI 비서용 파랑 (LottieFiles 홈페이지 · 브랜드 색 참고)</a:t>
            </a:r>
            <a:endParaRPr lang="en-US" sz="1300" dirty="0"/>
          </a:p>
        </p:txBody>
      </p:sp>
      <p:sp>
        <p:nvSpPr>
          <p:cNvPr id="7" name="청록 견본"/>
          <p:cNvSpPr/>
          <p:nvPr/>
        </p:nvSpPr>
        <p:spPr>
          <a:xfrm>
            <a:off x="640080" y="1737360"/>
            <a:ext cx="1552194" cy="603504"/>
          </a:xfrm>
          <a:prstGeom prst="rect">
            <a:avLst/>
          </a:prstGeom>
          <a:solidFill>
            <a:srgbClr val="017A71"/>
          </a:solidFill>
          <a:ln/>
        </p:spPr>
      </p:sp>
      <p:sp>
        <p:nvSpPr>
          <p:cNvPr id="8" name="청록 값"/>
          <p:cNvSpPr txBox="1"/>
          <p:nvPr/>
        </p:nvSpPr>
        <p:spPr>
          <a:xfrm>
            <a:off x="749808" y="1810512"/>
            <a:ext cx="136931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청록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#017A71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 1,122,113</a:t>
            </a:r>
            <a:endParaRPr lang="en-US" sz="1100" dirty="0"/>
          </a:p>
        </p:txBody>
      </p:sp>
      <p:sp>
        <p:nvSpPr>
          <p:cNvPr id="9" name="청록 용도"/>
          <p:cNvSpPr txBox="1"/>
          <p:nvPr/>
        </p:nvSpPr>
        <p:spPr>
          <a:xfrm>
            <a:off x="640080" y="2386584"/>
            <a:ext cx="1552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</a:rPr>
              <a:t>왼쪽 메뉴 · 버튼 · 링크</a:t>
            </a:r>
            <a:endParaRPr lang="en-US" sz="900" dirty="0"/>
          </a:p>
        </p:txBody>
      </p:sp>
      <p:sp>
        <p:nvSpPr>
          <p:cNvPr id="10" name="브랜드 청록 견본"/>
          <p:cNvSpPr/>
          <p:nvPr/>
        </p:nvSpPr>
        <p:spPr>
          <a:xfrm>
            <a:off x="2302002" y="1737360"/>
            <a:ext cx="1552194" cy="603504"/>
          </a:xfrm>
          <a:prstGeom prst="rect">
            <a:avLst/>
          </a:prstGeom>
          <a:solidFill>
            <a:srgbClr val="019D91"/>
          </a:solidFill>
          <a:ln/>
        </p:spPr>
      </p:sp>
      <p:sp>
        <p:nvSpPr>
          <p:cNvPr id="11" name="브랜드 청록 값"/>
          <p:cNvSpPr txBox="1"/>
          <p:nvPr/>
        </p:nvSpPr>
        <p:spPr>
          <a:xfrm>
            <a:off x="2411730" y="1810512"/>
            <a:ext cx="136931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</a:rPr>
              <a:t>브랜드 청록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#019D91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 1,157,145</a:t>
            </a:r>
            <a:endParaRPr lang="en-US" sz="1100" dirty="0"/>
          </a:p>
        </p:txBody>
      </p:sp>
      <p:sp>
        <p:nvSpPr>
          <p:cNvPr id="12" name="브랜드 청록 용도"/>
          <p:cNvSpPr txBox="1"/>
          <p:nvPr/>
        </p:nvSpPr>
        <p:spPr>
          <a:xfrm>
            <a:off x="2302002" y="2386584"/>
            <a:ext cx="1552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</a:rPr>
              <a:t>테두리 · 완료 · 강조 선</a:t>
            </a:r>
            <a:endParaRPr lang="en-US" sz="900" dirty="0"/>
          </a:p>
        </p:txBody>
      </p:sp>
      <p:sp>
        <p:nvSpPr>
          <p:cNvPr id="13" name="민트 견본"/>
          <p:cNvSpPr/>
          <p:nvPr/>
        </p:nvSpPr>
        <p:spPr>
          <a:xfrm>
            <a:off x="3963924" y="1737360"/>
            <a:ext cx="1552194" cy="603504"/>
          </a:xfrm>
          <a:prstGeom prst="rect">
            <a:avLst/>
          </a:prstGeom>
          <a:solidFill>
            <a:srgbClr val="00DDB3"/>
          </a:solidFill>
          <a:ln/>
        </p:spPr>
      </p:sp>
      <p:sp>
        <p:nvSpPr>
          <p:cNvPr id="14" name="민트 값"/>
          <p:cNvSpPr txBox="1"/>
          <p:nvPr/>
        </p:nvSpPr>
        <p:spPr>
          <a:xfrm>
            <a:off x="4073652" y="1810512"/>
            <a:ext cx="136931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</a:rPr>
              <a:t>민트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#00DDB3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 0,221,179</a:t>
            </a:r>
            <a:endParaRPr lang="en-US" sz="1100" dirty="0"/>
          </a:p>
        </p:txBody>
      </p:sp>
      <p:sp>
        <p:nvSpPr>
          <p:cNvPr id="15" name="민트 용도"/>
          <p:cNvSpPr txBox="1"/>
          <p:nvPr/>
        </p:nvSpPr>
        <p:spPr>
          <a:xfrm>
            <a:off x="3963924" y="2386584"/>
            <a:ext cx="1552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</a:rPr>
              <a:t>메뉴의 현재 위치</a:t>
            </a:r>
            <a:endParaRPr lang="en-US" sz="900" dirty="0"/>
          </a:p>
        </p:txBody>
      </p:sp>
      <p:sp>
        <p:nvSpPr>
          <p:cNvPr id="16" name="파랑 견본"/>
          <p:cNvSpPr/>
          <p:nvPr/>
        </p:nvSpPr>
        <p:spPr>
          <a:xfrm>
            <a:off x="5625846" y="1737360"/>
            <a:ext cx="1552194" cy="603504"/>
          </a:xfrm>
          <a:prstGeom prst="rect">
            <a:avLst/>
          </a:prstGeom>
          <a:solidFill>
            <a:srgbClr val="1A66E0"/>
          </a:solidFill>
          <a:ln/>
        </p:spPr>
      </p:sp>
      <p:sp>
        <p:nvSpPr>
          <p:cNvPr id="17" name="파랑 값"/>
          <p:cNvSpPr txBox="1"/>
          <p:nvPr/>
        </p:nvSpPr>
        <p:spPr>
          <a:xfrm>
            <a:off x="5735574" y="1810512"/>
            <a:ext cx="136931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파랑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#1A66E0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 26,102,224</a:t>
            </a:r>
            <a:endParaRPr lang="en-US" sz="1100" dirty="0"/>
          </a:p>
        </p:txBody>
      </p:sp>
      <p:sp>
        <p:nvSpPr>
          <p:cNvPr id="18" name="파랑 용도"/>
          <p:cNvSpPr txBox="1"/>
          <p:nvPr/>
        </p:nvSpPr>
        <p:spPr>
          <a:xfrm>
            <a:off x="5625846" y="2386584"/>
            <a:ext cx="1552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</a:rPr>
              <a:t>AI 비서 상자</a:t>
            </a:r>
            <a:endParaRPr lang="en-US" sz="900" dirty="0"/>
          </a:p>
        </p:txBody>
      </p:sp>
      <p:sp>
        <p:nvSpPr>
          <p:cNvPr id="19" name="회색 상자"/>
          <p:cNvSpPr/>
          <p:nvPr/>
        </p:nvSpPr>
        <p:spPr>
          <a:xfrm>
            <a:off x="457200" y="2889504"/>
            <a:ext cx="6903720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99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9090B"/>
                </a:solidFill>
              </a:rPr>
              <a:t>회색</a:t>
            </a:r>
            <a:r>
              <a:rPr lang="en-US" sz="1050" dirty="0">
                <a:solidFill>
                  <a:srgbClr val="52525B"/>
                </a:solidFill>
              </a:rPr>
              <a:t>  색이 섞이지 않은 중립 회색 (글자 · 선 · 바탕)</a:t>
            </a:r>
            <a:endParaRPr lang="en-US" sz="1300" dirty="0"/>
          </a:p>
        </p:txBody>
      </p:sp>
      <p:sp>
        <p:nvSpPr>
          <p:cNvPr id="21" name="글자 견본"/>
          <p:cNvSpPr/>
          <p:nvPr/>
        </p:nvSpPr>
        <p:spPr>
          <a:xfrm>
            <a:off x="640080" y="3346704"/>
            <a:ext cx="886968" cy="512064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2" name="글자 값"/>
          <p:cNvSpPr txBox="1"/>
          <p:nvPr/>
        </p:nvSpPr>
        <p:spPr>
          <a:xfrm>
            <a:off x="640080" y="3913632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9090B"/>
                </a:solidFill>
              </a:rPr>
              <a:t>글자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#09090B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</a:rPr>
              <a:t>제목 · 본문</a:t>
            </a:r>
            <a:endParaRPr lang="en-US" sz="1100" dirty="0"/>
          </a:p>
        </p:txBody>
      </p:sp>
      <p:sp>
        <p:nvSpPr>
          <p:cNvPr id="23" name="보조 글자 견본"/>
          <p:cNvSpPr/>
          <p:nvPr/>
        </p:nvSpPr>
        <p:spPr>
          <a:xfrm>
            <a:off x="1581912" y="3346704"/>
            <a:ext cx="886968" cy="512064"/>
          </a:xfrm>
          <a:prstGeom prst="rect">
            <a:avLst/>
          </a:prstGeom>
          <a:solidFill>
            <a:srgbClr val="52525B"/>
          </a:solidFill>
          <a:ln/>
        </p:spPr>
      </p:sp>
      <p:sp>
        <p:nvSpPr>
          <p:cNvPr id="24" name="보조 글자 값"/>
          <p:cNvSpPr txBox="1"/>
          <p:nvPr/>
        </p:nvSpPr>
        <p:spPr>
          <a:xfrm>
            <a:off x="1581912" y="3913632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9090B"/>
                </a:solidFill>
              </a:rPr>
              <a:t>보조 글자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#52525B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</a:rPr>
              <a:t>설명 · 날짜</a:t>
            </a:r>
            <a:endParaRPr lang="en-US" sz="1100" dirty="0"/>
          </a:p>
        </p:txBody>
      </p:sp>
      <p:sp>
        <p:nvSpPr>
          <p:cNvPr id="25" name="테두리 견본"/>
          <p:cNvSpPr/>
          <p:nvPr/>
        </p:nvSpPr>
        <p:spPr>
          <a:xfrm>
            <a:off x="2523744" y="3346704"/>
            <a:ext cx="886968" cy="512064"/>
          </a:xfrm>
          <a:prstGeom prst="rect">
            <a:avLst/>
          </a:prstGeom>
          <a:solidFill>
            <a:srgbClr val="D4D4D8"/>
          </a:solidFill>
          <a:ln/>
        </p:spPr>
      </p:sp>
      <p:sp>
        <p:nvSpPr>
          <p:cNvPr id="26" name="테두리 값"/>
          <p:cNvSpPr txBox="1"/>
          <p:nvPr/>
        </p:nvSpPr>
        <p:spPr>
          <a:xfrm>
            <a:off x="2523744" y="3913632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9090B"/>
                </a:solidFill>
              </a:rPr>
              <a:t>테두리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#D4D4D8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</a:rPr>
              <a:t>입력칸 · 상자 선</a:t>
            </a:r>
            <a:endParaRPr lang="en-US" sz="1100" dirty="0"/>
          </a:p>
        </p:txBody>
      </p:sp>
      <p:sp>
        <p:nvSpPr>
          <p:cNvPr id="27" name="구분선 견본"/>
          <p:cNvSpPr/>
          <p:nvPr/>
        </p:nvSpPr>
        <p:spPr>
          <a:xfrm>
            <a:off x="3465576" y="3346704"/>
            <a:ext cx="886968" cy="512064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28" name="구분선 값"/>
          <p:cNvSpPr txBox="1"/>
          <p:nvPr/>
        </p:nvSpPr>
        <p:spPr>
          <a:xfrm>
            <a:off x="3465576" y="3913632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9090B"/>
                </a:solidFill>
              </a:rPr>
              <a:t>구분선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#E4E4E7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</a:rPr>
              <a:t>상자 · 표 선</a:t>
            </a:r>
            <a:endParaRPr lang="en-US" sz="1100" dirty="0"/>
          </a:p>
        </p:txBody>
      </p:sp>
      <p:sp>
        <p:nvSpPr>
          <p:cNvPr id="29" name="바탕 견본"/>
          <p:cNvSpPr/>
          <p:nvPr/>
        </p:nvSpPr>
        <p:spPr>
          <a:xfrm>
            <a:off x="4407408" y="3346704"/>
            <a:ext cx="886968" cy="512064"/>
          </a:xfrm>
          <a:prstGeom prst="rect">
            <a:avLst/>
          </a:prstGeom>
          <a:solidFill>
            <a:srgbClr val="F4F4F5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30" name="바탕 값"/>
          <p:cNvSpPr txBox="1"/>
          <p:nvPr/>
        </p:nvSpPr>
        <p:spPr>
          <a:xfrm>
            <a:off x="4407408" y="3913632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9090B"/>
                </a:solidFill>
              </a:rPr>
              <a:t>바탕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#F4F4F5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</a:rPr>
              <a:t>페이지 · 번호 칸</a:t>
            </a:r>
            <a:endParaRPr lang="en-US" sz="1100" dirty="0"/>
          </a:p>
        </p:txBody>
      </p:sp>
      <p:sp>
        <p:nvSpPr>
          <p:cNvPr id="31" name="옅은 바탕 견본"/>
          <p:cNvSpPr/>
          <p:nvPr/>
        </p:nvSpPr>
        <p:spPr>
          <a:xfrm>
            <a:off x="5349240" y="3346704"/>
            <a:ext cx="886968" cy="512064"/>
          </a:xfrm>
          <a:prstGeom prst="rect">
            <a:avLst/>
          </a:prstGeom>
          <a:solidFill>
            <a:srgbClr val="FAFAFA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32" name="옅은 바탕 값"/>
          <p:cNvSpPr txBox="1"/>
          <p:nvPr/>
        </p:nvSpPr>
        <p:spPr>
          <a:xfrm>
            <a:off x="5349240" y="3913632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9090B"/>
                </a:solidFill>
              </a:rPr>
              <a:t>옅은 바탕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#FAFAFA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</a:rPr>
              <a:t>상자 · 표 머리줄</a:t>
            </a:r>
            <a:endParaRPr lang="en-US" sz="1100" dirty="0"/>
          </a:p>
        </p:txBody>
      </p:sp>
      <p:sp>
        <p:nvSpPr>
          <p:cNvPr id="33" name="화이트 견본"/>
          <p:cNvSpPr/>
          <p:nvPr/>
        </p:nvSpPr>
        <p:spPr>
          <a:xfrm>
            <a:off x="6291072" y="3346704"/>
            <a:ext cx="88696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34" name="화이트 값"/>
          <p:cNvSpPr txBox="1"/>
          <p:nvPr/>
        </p:nvSpPr>
        <p:spPr>
          <a:xfrm>
            <a:off x="6291072" y="3913632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9090B"/>
                </a:solidFill>
              </a:rPr>
              <a:t>화이트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</a:rPr>
              <a:t>상자 · 카드</a:t>
            </a:r>
            <a:endParaRPr lang="en-US" sz="1100" dirty="0"/>
          </a:p>
        </p:txBody>
      </p:sp>
      <p:sp>
        <p:nvSpPr>
          <p:cNvPr id="35" name="프로그램 색 · 주의 상자"/>
          <p:cNvSpPr/>
          <p:nvPr/>
        </p:nvSpPr>
        <p:spPr>
          <a:xfrm>
            <a:off x="457200" y="4718304"/>
            <a:ext cx="69037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482803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9090B"/>
                </a:solidFill>
              </a:rPr>
              <a:t>프로그램 색 · 주의</a:t>
            </a:r>
            <a:r>
              <a:rPr lang="en-US" sz="1050" dirty="0">
                <a:solidFill>
                  <a:srgbClr val="52525B"/>
                </a:solidFill>
              </a:rPr>
              <a:t>  파워셸 상자는 윈도우 터미널, 아두이노 상자는 아두이노 IDE 색</a:t>
            </a:r>
            <a:endParaRPr lang="en-US" sz="1300" dirty="0"/>
          </a:p>
        </p:txBody>
      </p:sp>
      <p:sp>
        <p:nvSpPr>
          <p:cNvPr id="37" name="터미널 견본"/>
          <p:cNvSpPr/>
          <p:nvPr/>
        </p:nvSpPr>
        <p:spPr>
          <a:xfrm>
            <a:off x="640080" y="5175504"/>
            <a:ext cx="2087880" cy="512064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8" name="터미널 머리줄"/>
          <p:cNvSpPr/>
          <p:nvPr/>
        </p:nvSpPr>
        <p:spPr>
          <a:xfrm>
            <a:off x="640080" y="5175504"/>
            <a:ext cx="2087880" cy="18288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31520" y="5193792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파워셸에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731520" y="5404104"/>
            <a:ext cx="190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agy --version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5724144"/>
            <a:ext cx="2087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바탕 #0C0C0C · 글자 #CCCCCC</a:t>
            </a:r>
            <a:endParaRPr lang="en-US" sz="850" dirty="0"/>
          </a:p>
        </p:txBody>
      </p:sp>
      <p:sp>
        <p:nvSpPr>
          <p:cNvPr id="42" name="아두이노 IDE 견본"/>
          <p:cNvSpPr/>
          <p:nvPr/>
        </p:nvSpPr>
        <p:spPr>
          <a:xfrm>
            <a:off x="2865120" y="5175504"/>
            <a:ext cx="20878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006D70"/>
            </a:solidFill>
            <a:prstDash val="solid"/>
          </a:ln>
        </p:spPr>
      </p:sp>
      <p:sp>
        <p:nvSpPr>
          <p:cNvPr id="43" name="아두이노 IDE 머리줄"/>
          <p:cNvSpPr/>
          <p:nvPr/>
        </p:nvSpPr>
        <p:spPr>
          <a:xfrm>
            <a:off x="2865120" y="5175504"/>
            <a:ext cx="2087880" cy="182880"/>
          </a:xfrm>
          <a:prstGeom prst="rect">
            <a:avLst/>
          </a:prstGeom>
          <a:solidFill>
            <a:srgbClr val="006D70"/>
          </a:solidFill>
          <a:ln/>
        </p:spPr>
      </p:sp>
      <p:sp>
        <p:nvSpPr>
          <p:cNvPr id="44" name="IDE 둥근 버튼 1"/>
          <p:cNvSpPr/>
          <p:nvPr/>
        </p:nvSpPr>
        <p:spPr>
          <a:xfrm>
            <a:off x="2929128" y="5207508"/>
            <a:ext cx="118872" cy="118872"/>
          </a:xfrm>
          <a:prstGeom prst="ellipse">
            <a:avLst/>
          </a:prstGeom>
          <a:solidFill>
            <a:srgbClr val="7FCBCD"/>
          </a:solidFill>
          <a:ln/>
        </p:spPr>
      </p:sp>
      <p:sp>
        <p:nvSpPr>
          <p:cNvPr id="45" name="IDE 둥근 버튼 2"/>
          <p:cNvSpPr/>
          <p:nvPr/>
        </p:nvSpPr>
        <p:spPr>
          <a:xfrm>
            <a:off x="3084576" y="5207508"/>
            <a:ext cx="118872" cy="118872"/>
          </a:xfrm>
          <a:prstGeom prst="ellipse">
            <a:avLst/>
          </a:prstGeom>
          <a:solidFill>
            <a:srgbClr val="7FCBCD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3276600" y="5193792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7F9F9"/>
                </a:solidFill>
              </a:rPr>
              <a:t>아두이노 IDE에</a:t>
            </a:r>
            <a:endParaRPr lang="en-US" sz="800" dirty="0"/>
          </a:p>
        </p:txBody>
      </p:sp>
      <p:sp>
        <p:nvSpPr>
          <p:cNvPr id="47" name="IDE 코드 예"/>
          <p:cNvSpPr txBox="1"/>
          <p:nvPr/>
        </p:nvSpPr>
        <p:spPr>
          <a:xfrm>
            <a:off x="2956560" y="5404104"/>
            <a:ext cx="190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7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</a:t>
            </a:r>
            <a:r>
              <a:rPr lang="en-US" sz="1050" dirty="0">
                <a:solidFill>
                  <a:srgbClr val="008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1050" dirty="0">
                <a:solidFill>
                  <a:srgbClr val="C24E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sz="1050" dirty="0">
                <a:solidFill>
                  <a:srgbClr val="4E5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2865120" y="5724144"/>
            <a:ext cx="2087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머리줄 #006D70 · 줄 번호 #237893</a:t>
            </a:r>
            <a:endParaRPr lang="en-US" sz="850" dirty="0"/>
          </a:p>
        </p:txBody>
      </p:sp>
      <p:sp>
        <p:nvSpPr>
          <p:cNvPr id="49" name="주의 견본"/>
          <p:cNvSpPr/>
          <p:nvPr/>
        </p:nvSpPr>
        <p:spPr>
          <a:xfrm>
            <a:off x="5090160" y="5175504"/>
            <a:ext cx="2087880" cy="512064"/>
          </a:xfrm>
          <a:prstGeom prst="rect">
            <a:avLst/>
          </a:prstGeom>
          <a:solidFill>
            <a:srgbClr val="FFF4CE"/>
          </a:solidFill>
          <a:ln/>
        </p:spPr>
      </p:sp>
      <p:sp>
        <p:nvSpPr>
          <p:cNvPr id="50" name="주의 왼쪽 선"/>
          <p:cNvSpPr/>
          <p:nvPr/>
        </p:nvSpPr>
        <p:spPr>
          <a:xfrm>
            <a:off x="5090160" y="5175504"/>
            <a:ext cx="45720" cy="512064"/>
          </a:xfrm>
          <a:prstGeom prst="rect">
            <a:avLst/>
          </a:prstGeom>
          <a:solidFill>
            <a:srgbClr val="9D5D00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236464" y="5175504"/>
            <a:ext cx="1868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5D00"/>
                </a:solidFill>
              </a:rPr>
              <a:t>중요!</a:t>
            </a:r>
            <a:r>
              <a:rPr lang="en-US" sz="1000" dirty="0">
                <a:solidFill>
                  <a:srgbClr val="09090B"/>
                </a:solidFill>
              </a:rPr>
              <a:t> 창을 닫고 새로 열기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5090160" y="5724144"/>
            <a:ext cx="2087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바탕 #FFF4CE · 글자 #9D5D00</a:t>
            </a:r>
            <a:endParaRPr lang="en-US" sz="850" dirty="0"/>
          </a:p>
        </p:txBody>
      </p:sp>
      <p:sp>
        <p:nvSpPr>
          <p:cNvPr id="53" name="적용 예시 상자"/>
          <p:cNvSpPr/>
          <p:nvPr/>
        </p:nvSpPr>
        <p:spPr>
          <a:xfrm>
            <a:off x="7543800" y="1280160"/>
            <a:ext cx="4187952" cy="4736592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726680" y="13898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9090B"/>
                </a:solidFill>
              </a:rPr>
              <a:t>적용 예시 · 실습 사이트</a:t>
            </a:r>
            <a:endParaRPr lang="en-US" sz="1300" dirty="0"/>
          </a:p>
        </p:txBody>
      </p:sp>
      <p:pic>
        <p:nvPicPr>
          <p:cNvPr id="55" name="실습 사이트 화면" descr="/home/claude/work/deck/img/palette/site_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737360"/>
            <a:ext cx="3822192" cy="2388870"/>
          </a:xfrm>
          <a:prstGeom prst="rect">
            <a:avLst/>
          </a:prstGeom>
        </p:spPr>
      </p:pic>
      <p:sp>
        <p:nvSpPr>
          <p:cNvPr id="56" name="화면 테두리"/>
          <p:cNvSpPr/>
          <p:nvPr/>
        </p:nvSpPr>
        <p:spPr>
          <a:xfrm>
            <a:off x="7726680" y="1737360"/>
            <a:ext cx="3822192" cy="2388870"/>
          </a:xfrm>
          <a:prstGeom prst="rect">
            <a:avLst/>
          </a:prstGeom>
          <a:ln w="9525">
            <a:solidFill>
              <a:srgbClr val="E4E4E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726680" y="4171950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2525B"/>
                </a:solidFill>
              </a:rPr>
              <a:t>왼쪽 메뉴는 청록 바탕에 흰 글자, 상자는 붙여넣을 프로그램 모양</a:t>
            </a:r>
            <a:endParaRPr lang="en-US" sz="850" dirty="0"/>
          </a:p>
        </p:txBody>
      </p:sp>
      <p:sp>
        <p:nvSpPr>
          <p:cNvPr id="58" name="Text 55"/>
          <p:cNvSpPr txBox="1"/>
          <p:nvPr/>
        </p:nvSpPr>
        <p:spPr>
          <a:xfrm>
            <a:off x="7726680" y="440740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9090B"/>
                </a:solidFill>
              </a:rPr>
              <a:t>붙여넣는 곳 = 상자 모양</a:t>
            </a:r>
            <a:endParaRPr lang="en-US" sz="1150" dirty="0"/>
          </a:p>
        </p:txBody>
      </p:sp>
      <p:sp>
        <p:nvSpPr>
          <p:cNvPr id="59" name="파란 상자 견본"/>
          <p:cNvSpPr/>
          <p:nvPr/>
        </p:nvSpPr>
        <p:spPr>
          <a:xfrm>
            <a:off x="7726680" y="4745736"/>
            <a:ext cx="42062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1A66E0"/>
            </a:solidFill>
            <a:prstDash val="solid"/>
          </a:ln>
        </p:spPr>
      </p:sp>
      <p:sp>
        <p:nvSpPr>
          <p:cNvPr id="60" name="파란 상자 머리줄"/>
          <p:cNvSpPr/>
          <p:nvPr/>
        </p:nvSpPr>
        <p:spPr>
          <a:xfrm>
            <a:off x="7735824" y="4754880"/>
            <a:ext cx="402336" cy="73152"/>
          </a:xfrm>
          <a:prstGeom prst="rect">
            <a:avLst/>
          </a:prstGeom>
          <a:solidFill>
            <a:srgbClr val="1A66E0"/>
          </a:solidFill>
          <a:ln/>
        </p:spPr>
      </p:sp>
      <p:sp>
        <p:nvSpPr>
          <p:cNvPr id="61" name="파란 상자 설명"/>
          <p:cNvSpPr txBox="1"/>
          <p:nvPr/>
        </p:nvSpPr>
        <p:spPr>
          <a:xfrm>
            <a:off x="8238744" y="4709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9090B"/>
                </a:solidFill>
              </a:rPr>
              <a:t>파란 상자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</a:rPr>
              <a:t>AI 비서</a:t>
            </a:r>
            <a:endParaRPr lang="en-US" sz="1100" dirty="0"/>
          </a:p>
        </p:txBody>
      </p:sp>
      <p:sp>
        <p:nvSpPr>
          <p:cNvPr id="62" name="검은 상자 견본"/>
          <p:cNvSpPr/>
          <p:nvPr/>
        </p:nvSpPr>
        <p:spPr>
          <a:xfrm>
            <a:off x="9665208" y="4745736"/>
            <a:ext cx="420624" cy="274320"/>
          </a:xfrm>
          <a:prstGeom prst="rect">
            <a:avLst/>
          </a:prstGeom>
          <a:solidFill>
            <a:srgbClr val="0C0C0C"/>
          </a:solidFill>
          <a:ln w="9525">
            <a:solidFill>
              <a:srgbClr val="0C0C0C"/>
            </a:solidFill>
            <a:prstDash val="solid"/>
          </a:ln>
        </p:spPr>
      </p:sp>
      <p:sp>
        <p:nvSpPr>
          <p:cNvPr id="63" name="검은 상자 머리줄"/>
          <p:cNvSpPr/>
          <p:nvPr/>
        </p:nvSpPr>
        <p:spPr>
          <a:xfrm>
            <a:off x="9674352" y="4754880"/>
            <a:ext cx="402336" cy="73152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64" name="검은 상자 설명"/>
          <p:cNvSpPr txBox="1"/>
          <p:nvPr/>
        </p:nvSpPr>
        <p:spPr>
          <a:xfrm>
            <a:off x="10177272" y="4709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9090B"/>
                </a:solidFill>
              </a:rPr>
              <a:t>검은 상자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</a:rPr>
              <a:t>파워셸 (터미널)</a:t>
            </a:r>
            <a:endParaRPr lang="en-US" sz="1100" dirty="0"/>
          </a:p>
        </p:txBody>
      </p:sp>
      <p:sp>
        <p:nvSpPr>
          <p:cNvPr id="65" name="흰 주소 상자 견본"/>
          <p:cNvSpPr/>
          <p:nvPr/>
        </p:nvSpPr>
        <p:spPr>
          <a:xfrm>
            <a:off x="7726680" y="5166360"/>
            <a:ext cx="420624" cy="274320"/>
          </a:xfrm>
          <a:prstGeom prst="rect">
            <a:avLst/>
          </a:prstGeom>
          <a:solidFill>
            <a:srgbClr val="F1F3F4"/>
          </a:solidFill>
          <a:ln w="9525">
            <a:solidFill>
              <a:srgbClr val="D4D4D8"/>
            </a:solidFill>
            <a:prstDash val="solid"/>
          </a:ln>
        </p:spPr>
      </p:sp>
      <p:sp>
        <p:nvSpPr>
          <p:cNvPr id="66" name="흰 주소 상자 설명"/>
          <p:cNvSpPr txBox="1"/>
          <p:nvPr/>
        </p:nvSpPr>
        <p:spPr>
          <a:xfrm>
            <a:off x="8238744" y="51297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9090B"/>
                </a:solidFill>
              </a:rPr>
              <a:t>흰 주소 상자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</a:rPr>
              <a:t>크롬 주소창</a:t>
            </a:r>
            <a:endParaRPr lang="en-US" sz="1100" dirty="0"/>
          </a:p>
        </p:txBody>
      </p:sp>
      <p:sp>
        <p:nvSpPr>
          <p:cNvPr id="67" name="IDE 모양 상자 견본"/>
          <p:cNvSpPr/>
          <p:nvPr/>
        </p:nvSpPr>
        <p:spPr>
          <a:xfrm>
            <a:off x="9665208" y="5166360"/>
            <a:ext cx="42062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006D70"/>
            </a:solidFill>
            <a:prstDash val="solid"/>
          </a:ln>
        </p:spPr>
      </p:sp>
      <p:sp>
        <p:nvSpPr>
          <p:cNvPr id="68" name="IDE 모양 상자 머리줄"/>
          <p:cNvSpPr/>
          <p:nvPr/>
        </p:nvSpPr>
        <p:spPr>
          <a:xfrm>
            <a:off x="9674352" y="5175504"/>
            <a:ext cx="402336" cy="73152"/>
          </a:xfrm>
          <a:prstGeom prst="rect">
            <a:avLst/>
          </a:prstGeom>
          <a:solidFill>
            <a:srgbClr val="006D70"/>
          </a:solidFill>
          <a:ln/>
        </p:spPr>
      </p:sp>
      <p:sp>
        <p:nvSpPr>
          <p:cNvPr id="69" name="IDE 모양 상자 설명"/>
          <p:cNvSpPr txBox="1"/>
          <p:nvPr/>
        </p:nvSpPr>
        <p:spPr>
          <a:xfrm>
            <a:off x="10177272" y="51297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9090B"/>
                </a:solidFill>
              </a:rPr>
              <a:t>IDE 모양 상자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</a:rPr>
              <a:t>아두이노 IDE</a:t>
            </a:r>
            <a:endParaRPr lang="en-US" sz="1100" dirty="0"/>
          </a:p>
        </p:txBody>
      </p:sp>
      <p:sp>
        <p:nvSpPr>
          <p:cNvPr id="70" name="점선 상자 견본"/>
          <p:cNvSpPr/>
          <p:nvPr/>
        </p:nvSpPr>
        <p:spPr>
          <a:xfrm>
            <a:off x="7726680" y="5586984"/>
            <a:ext cx="42062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dash"/>
          </a:ln>
        </p:spPr>
      </p:sp>
      <p:sp>
        <p:nvSpPr>
          <p:cNvPr id="71" name="점선 상자 머리줄"/>
          <p:cNvSpPr/>
          <p:nvPr/>
        </p:nvSpPr>
        <p:spPr>
          <a:xfrm>
            <a:off x="7735824" y="5596128"/>
            <a:ext cx="402336" cy="73152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72" name="점선 상자 설명"/>
          <p:cNvSpPr txBox="1"/>
          <p:nvPr/>
        </p:nvSpPr>
        <p:spPr>
          <a:xfrm>
            <a:off x="8238744" y="55504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9090B"/>
                </a:solidFill>
              </a:rPr>
              <a:t>점선 상자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</a:rPr>
              <a:t>메모장 (파일 저장)</a:t>
            </a:r>
            <a:endParaRPr lang="en-US" sz="1100" dirty="0"/>
          </a:p>
        </p:txBody>
      </p:sp>
      <p:sp>
        <p:nvSpPr>
          <p:cNvPr id="73" name="규칙 표시 1"/>
          <p:cNvSpPr/>
          <p:nvPr/>
        </p:nvSpPr>
        <p:spPr>
          <a:xfrm>
            <a:off x="457200" y="6163056"/>
            <a:ext cx="45720" cy="384048"/>
          </a:xfrm>
          <a:prstGeom prst="rect">
            <a:avLst/>
          </a:prstGeom>
          <a:solidFill>
            <a:srgbClr val="017A71"/>
          </a:solidFill>
          <a:ln/>
        </p:spPr>
      </p:sp>
      <p:sp>
        <p:nvSpPr>
          <p:cNvPr id="74" name="규칙 1"/>
          <p:cNvSpPr txBox="1"/>
          <p:nvPr/>
        </p:nvSpPr>
        <p:spPr>
          <a:xfrm>
            <a:off x="585216" y="6144768"/>
            <a:ext cx="25534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9090B"/>
                </a:solidFill>
              </a:rPr>
              <a:t>강조는 청록, AI 비서만 파랑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</a:rPr>
              <a:t>그 밖에는 회색 · 터미널 검정 · 주의 노랑만</a:t>
            </a:r>
            <a:endParaRPr lang="en-US" sz="1100" dirty="0"/>
          </a:p>
        </p:txBody>
      </p:sp>
      <p:sp>
        <p:nvSpPr>
          <p:cNvPr id="75" name="규칙 표시 2"/>
          <p:cNvSpPr/>
          <p:nvPr/>
        </p:nvSpPr>
        <p:spPr>
          <a:xfrm>
            <a:off x="3321558" y="6163056"/>
            <a:ext cx="45720" cy="384048"/>
          </a:xfrm>
          <a:prstGeom prst="rect">
            <a:avLst/>
          </a:prstGeom>
          <a:solidFill>
            <a:srgbClr val="017A71"/>
          </a:solidFill>
          <a:ln/>
        </p:spPr>
      </p:sp>
      <p:sp>
        <p:nvSpPr>
          <p:cNvPr id="76" name="규칙 2"/>
          <p:cNvSpPr txBox="1"/>
          <p:nvPr/>
        </p:nvSpPr>
        <p:spPr>
          <a:xfrm>
            <a:off x="3449574" y="6144768"/>
            <a:ext cx="25534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9090B"/>
                </a:solidFill>
              </a:rPr>
              <a:t>모서리는 직각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</a:rPr>
              <a:t>복사 버튼만 둥글고 입체적으로</a:t>
            </a:r>
            <a:endParaRPr lang="en-US" sz="1100" dirty="0"/>
          </a:p>
        </p:txBody>
      </p:sp>
      <p:sp>
        <p:nvSpPr>
          <p:cNvPr id="77" name="규칙 표시 3"/>
          <p:cNvSpPr/>
          <p:nvPr/>
        </p:nvSpPr>
        <p:spPr>
          <a:xfrm>
            <a:off x="6185916" y="6163056"/>
            <a:ext cx="45720" cy="384048"/>
          </a:xfrm>
          <a:prstGeom prst="rect">
            <a:avLst/>
          </a:prstGeom>
          <a:solidFill>
            <a:srgbClr val="017A71"/>
          </a:solidFill>
          <a:ln/>
        </p:spPr>
      </p:sp>
      <p:sp>
        <p:nvSpPr>
          <p:cNvPr id="78" name="규칙 3"/>
          <p:cNvSpPr txBox="1"/>
          <p:nvPr/>
        </p:nvSpPr>
        <p:spPr>
          <a:xfrm>
            <a:off x="6313932" y="6144768"/>
            <a:ext cx="25534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9090B"/>
                </a:solidFill>
              </a:rPr>
              <a:t>글꼴은 맑은 고딕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</a:rPr>
              <a:t>명령어 · 코드만 Consolas</a:t>
            </a:r>
            <a:endParaRPr lang="en-US" sz="1100" dirty="0"/>
          </a:p>
        </p:txBody>
      </p:sp>
      <p:sp>
        <p:nvSpPr>
          <p:cNvPr id="79" name="규칙 표시 4"/>
          <p:cNvSpPr/>
          <p:nvPr/>
        </p:nvSpPr>
        <p:spPr>
          <a:xfrm>
            <a:off x="9050274" y="6163056"/>
            <a:ext cx="45720" cy="384048"/>
          </a:xfrm>
          <a:prstGeom prst="rect">
            <a:avLst/>
          </a:prstGeom>
          <a:solidFill>
            <a:srgbClr val="017A71"/>
          </a:solidFill>
          <a:ln/>
        </p:spPr>
      </p:sp>
      <p:sp>
        <p:nvSpPr>
          <p:cNvPr id="80" name="규칙 4"/>
          <p:cNvSpPr txBox="1"/>
          <p:nvPr/>
        </p:nvSpPr>
        <p:spPr>
          <a:xfrm>
            <a:off x="9178290" y="6144768"/>
            <a:ext cx="25534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9090B"/>
                </a:solidFill>
              </a:rPr>
              <a:t>흰 글자는 진한 청록 · 파랑 위에만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</a:rPr>
              <a:t>흐린 파스텔 바탕은 쓰지 않기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피지컬 · 청록">
  <a:themeElements>
    <a:clrScheme name="AI 피지컬 · 청록">
      <a:dk1>
        <a:srgbClr val="09090B"/>
      </a:dk1>
      <a:lt1>
        <a:srgbClr val="FFFFFF"/>
      </a:lt1>
      <a:dk2>
        <a:srgbClr val="52525B"/>
      </a:dk2>
      <a:lt2>
        <a:srgbClr val="F4F4F5"/>
      </a:lt2>
      <a:accent1>
        <a:srgbClr val="017A71"/>
      </a:accent1>
      <a:accent2>
        <a:srgbClr val="019D91"/>
      </a:accent2>
      <a:accent3>
        <a:srgbClr val="00DDB3"/>
      </a:accent3>
      <a:accent4>
        <a:srgbClr val="1A66E0"/>
      </a:accent4>
      <a:accent5>
        <a:srgbClr val="9D5D00"/>
      </a:accent5>
      <a:accent6>
        <a:srgbClr val="0C0C0C"/>
      </a:accent6>
      <a:hlink>
        <a:srgbClr val="017A71"/>
      </a:hlink>
      <a:folHlink>
        <a:srgbClr val="52525B"/>
      </a:folHlink>
    </a:clrScheme>
    <a:fontScheme name="AI 피지컬 · 청록">
      <a:majorFont>
        <a:latin typeface="Malgun Gothic"/>
        <a:ea typeface="Malgun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Malgun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기본 색상 템플릿</dc:title>
  <dc:subject>AI 에이전트와 피지컬 컴퓨팅 입문 · 실습 사이트 색상 기준</dc:subject>
  <dc:creator>이현숙</dc:creator>
  <cp:lastModifiedBy>이현숙</cp:lastModifiedBy>
  <cp:revision>1</cp:revision>
  <dcterms:created xsi:type="dcterms:W3CDTF">2026-10-11T09:30:40Z</dcterms:created>
  <dcterms:modified xsi:type="dcterms:W3CDTF">2026-10-11T09:30:40Z</dcterms:modified>
</cp:coreProperties>
</file>